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 Stories</c:v>
                </c:pt>
              </c:strCache>
            </c:strRef>
          </c:tx>
          <c:spPr>
            <a:solidFill>
              <a:srgbClr val="285B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Dec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May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380</c:v>
                </c:pt>
                <c:pt idx="1">
                  <c:v>520</c:v>
                </c:pt>
                <c:pt idx="2">
                  <c:v>740</c:v>
                </c:pt>
                <c:pt idx="3">
                  <c:v>980</c:v>
                </c:pt>
                <c:pt idx="4">
                  <c:v>1240</c:v>
                </c:pt>
                <c:pt idx="5">
                  <c:v>1530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Test Cases</c:v>
                </c:pt>
              </c:strCache>
            </c:strRef>
          </c:tx>
          <c:spPr>
            <a:solidFill>
              <a:srgbClr val="4C12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Dec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May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560</c:v>
                </c:pt>
                <c:pt idx="1">
                  <c:v>820</c:v>
                </c:pt>
                <c:pt idx="2">
                  <c:v>1180</c:v>
                </c:pt>
                <c:pt idx="3">
                  <c:v>1620</c:v>
                </c:pt>
                <c:pt idx="4">
                  <c:v>2050</c:v>
                </c:pt>
                <c:pt idx="5">
                  <c:v>2410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Test Scripts</c:v>
                </c:pt>
              </c:strCache>
            </c:strRef>
          </c:tx>
          <c:spPr>
            <a:solidFill>
              <a:srgbClr val="F2A9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Dec</c:v>
                  </c:pt>
                  <c:pt idx="1">
                    <c:v>Jan</c:v>
                  </c:pt>
                  <c:pt idx="2">
                    <c:v>Feb</c:v>
                  </c:pt>
                  <c:pt idx="3">
                    <c:v>Mar</c:v>
                  </c:pt>
                  <c:pt idx="4">
                    <c:v>Apr</c:v>
                  </c:pt>
                  <c:pt idx="5">
                    <c:v>May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120</c:v>
                </c:pt>
                <c:pt idx="1">
                  <c:v>240</c:v>
                </c:pt>
                <c:pt idx="2">
                  <c:v>410</c:v>
                </c:pt>
                <c:pt idx="3">
                  <c:v>680</c:v>
                </c:pt>
                <c:pt idx="4">
                  <c:v>970</c:v>
                </c:pt>
                <c:pt idx="5">
                  <c:v>1280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1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1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5A6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User Story</c:v>
                  </c:pt>
                  <c:pt idx="1">
                    <c:v>Test Cases</c:v>
                  </c:pt>
                  <c:pt idx="2">
                    <c:v>Test Script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</c:v>
                </c:pt>
                <c:pt idx="1">
                  <c:v>14</c:v>
                </c:pt>
                <c:pt idx="2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Copilot</c:v>
                </c:pt>
              </c:strCache>
            </c:strRef>
          </c:tx>
          <c:spPr>
            <a:solidFill>
              <a:srgbClr val="285BC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User Story</c:v>
                  </c:pt>
                  <c:pt idx="1">
                    <c:v>Test Cases</c:v>
                  </c:pt>
                  <c:pt idx="2">
                    <c:v>Test Script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1.2</c:v>
                </c:pt>
                <c:pt idx="1">
                  <c:v>3.5</c:v>
                </c:pt>
                <c:pt idx="2">
                  <c:v>2.1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17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17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solidFill>
                <a:srgbClr val="1A1A2E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C1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·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SDLC bleeds time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1417320"/>
          </a:xfrm>
          <a:prstGeom prst="rect">
            <a:avLst/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128016" cy="1417320"/>
          </a:xfrm>
          <a:prstGeom prst="rect">
            <a:avLst/>
          </a:prstGeom>
          <a:solidFill>
            <a:srgbClr val="4C12A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572768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i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SDLC artifacts: slow, inconsistent, drain expert time.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324612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58952" y="3438144"/>
            <a:ext cx="502920" cy="50292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" y="351586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99032" y="343814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per artifact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58952" y="406908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and QA leads spend 2–5 days per Epic writing stories,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and Gherkin scripts — by hand.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51960" y="324612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07992" y="3438144"/>
            <a:ext cx="502920" cy="50292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716" y="351586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48072" y="343814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quality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07992" y="406908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quality varies sharply across teams and product lines,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rework and audit gaps.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01000" y="3246120"/>
            <a:ext cx="3566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57032" y="3438144"/>
            <a:ext cx="502920" cy="502920"/>
          </a:xfrm>
          <a:prstGeom prst="ellipse">
            <a:avLst/>
          </a:prstGeom>
          <a:solidFill>
            <a:srgbClr val="F4F6FB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756" y="351586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897112" y="3438144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lives in silos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57032" y="4069080"/>
            <a:ext cx="31546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Wiki, SharePoint, MindTouch and JIRA history are rarely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at the point of authoring.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Copilot  ·  Executive Briefing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247120" y="6510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C1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pillars of SDLC Copilot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3566160" cy="1188720"/>
          </a:xfrm>
          <a:prstGeom prst="rect">
            <a:avLst/>
          </a:prstGeom>
          <a:solidFill>
            <a:srgbClr val="285BC5"/>
          </a:solidFill>
          <a:ln/>
        </p:spPr>
      </p:sp>
      <p:sp>
        <p:nvSpPr>
          <p:cNvPr id="6" name="Text 4"/>
          <p:cNvSpPr/>
          <p:nvPr/>
        </p:nvSpPr>
        <p:spPr>
          <a:xfrm>
            <a:off x="704088" y="16002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7560" y="1801368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04088" y="22037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04088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85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· Ingest · Index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40664" y="3172968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MindTouch, Wiki &amp; SharePoint connectors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document upload (PDF, DOCX, MD)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AI Search — hybrid BM25 + dense index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Islands — structured JSON per domain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251960" y="150876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51960" y="1508760"/>
            <a:ext cx="3566160" cy="1188720"/>
          </a:xfrm>
          <a:prstGeom prst="rect">
            <a:avLst/>
          </a:prstGeom>
          <a:solidFill>
            <a:srgbClr val="4C12A1"/>
          </a:solidFill>
          <a:ln/>
        </p:spPr>
      </p:sp>
      <p:sp>
        <p:nvSpPr>
          <p:cNvPr id="13" name="Text 10"/>
          <p:cNvSpPr/>
          <p:nvPr/>
        </p:nvSpPr>
        <p:spPr>
          <a:xfrm>
            <a:off x="4453128" y="16002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1801368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53128" y="22037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Generation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453128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1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 flow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489704" y="3172968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Epics &amp; INVEST-aligned User Stories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— positive, negative, edge scenarios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/ Gherkin Test Scripts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BOT — human-in-the-loop edits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01000" y="1508760"/>
            <a:ext cx="3566160" cy="4892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001000" y="1508760"/>
            <a:ext cx="3566160" cy="1188720"/>
          </a:xfrm>
          <a:prstGeom prst="rect">
            <a:avLst/>
          </a:prstGeom>
          <a:solidFill>
            <a:srgbClr val="285BC5"/>
          </a:solidFill>
          <a:ln/>
        </p:spPr>
      </p:sp>
      <p:sp>
        <p:nvSpPr>
          <p:cNvPr id="20" name="Text 16"/>
          <p:cNvSpPr/>
          <p:nvPr/>
        </p:nvSpPr>
        <p:spPr>
          <a:xfrm>
            <a:off x="8202168" y="1600200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6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35640" y="1801368"/>
            <a:ext cx="475488" cy="4754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202168" y="2203704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202168" y="2788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85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knowledge as skills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238744" y="3172968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SDLC Copilot tools via MCP protocol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GitHub Copilot, Cursor, Claude Code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Test-script generation skills on demand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Governed, SSO-authenticated access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Copilot  ·  Executive Briefing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247120" y="6510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C1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· MCP SERVER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Exposed tools and seamless integration with coding agents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C1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EXPOSED VIA MCP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5394960" cy="457200"/>
          </a:xfrm>
          <a:prstGeom prst="rect">
            <a:avLst/>
          </a:prstGeom>
          <a:solidFill>
            <a:srgbClr val="285BC5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8745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06040" y="1874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377440"/>
            <a:ext cx="539496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3774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5B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search_knowledge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06040" y="23774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search across product knowledge islands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907792"/>
            <a:ext cx="5394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90779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5B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generate_user_story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06040" y="290779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INVEST-aligned story from a feature ask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438144"/>
            <a:ext cx="539496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43814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5B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generate_test_cases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06040" y="343814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positive / negative / edge-case scenarios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968496"/>
            <a:ext cx="5394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968496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5B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generate_test_script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396849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BDD-Gherkin scripts ready for automation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498848"/>
            <a:ext cx="5394960" cy="502920"/>
          </a:xfrm>
          <a:prstGeom prst="rect">
            <a:avLst/>
          </a:prstGeom>
          <a:solidFill>
            <a:srgbClr val="F4F6FB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49884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85BC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fetch_jira_context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06040" y="44988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related tickets, ACs and history from JIRA/TFS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5074920"/>
            <a:ext cx="5394960" cy="548640"/>
          </a:xfrm>
          <a:prstGeom prst="rect">
            <a:avLst/>
          </a:prstGeom>
          <a:solidFill>
            <a:srgbClr val="4C12A1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50749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with: GitHub Copilot · Cursor · Claude Code · Custom IDE Agents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46520" y="155448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4C1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INTEGRATION — 4 STEPS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446520" y="1947672"/>
            <a:ext cx="512064" cy="512064"/>
          </a:xfrm>
          <a:prstGeom prst="ellipse">
            <a:avLst/>
          </a:prstGeom>
          <a:solidFill>
            <a:srgbClr val="4C12A1"/>
          </a:solidFill>
          <a:ln/>
        </p:spPr>
      </p:sp>
      <p:sp>
        <p:nvSpPr>
          <p:cNvPr id="27" name="Text 25"/>
          <p:cNvSpPr/>
          <p:nvPr/>
        </p:nvSpPr>
        <p:spPr>
          <a:xfrm>
            <a:off x="6446520" y="19476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28" name="Shape 26"/>
          <p:cNvSpPr/>
          <p:nvPr/>
        </p:nvSpPr>
        <p:spPr>
          <a:xfrm>
            <a:off x="6702552" y="2459736"/>
            <a:ext cx="0" cy="475488"/>
          </a:xfrm>
          <a:prstGeom prst="line">
            <a:avLst/>
          </a:prstGeom>
          <a:noFill/>
          <a:ln w="19050">
            <a:solidFill>
              <a:srgbClr val="E1E6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7114032" y="1874520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MCP endpoint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114032" y="222199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SDLC Copilot's MCP URL to the coding agent's config — one line.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46520" y="2935224"/>
            <a:ext cx="512064" cy="512064"/>
          </a:xfrm>
          <a:prstGeom prst="ellipse">
            <a:avLst/>
          </a:prstGeom>
          <a:solidFill>
            <a:srgbClr val="4C12A1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9352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6702552" y="3447288"/>
            <a:ext cx="0" cy="475488"/>
          </a:xfrm>
          <a:prstGeom prst="line">
            <a:avLst/>
          </a:prstGeom>
          <a:noFill/>
          <a:ln w="19050">
            <a:solidFill>
              <a:srgbClr val="E1E6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114032" y="2862072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 via SSO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114032" y="320954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OAuth grants scoped access to allowed knowledge islands.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46520" y="3922776"/>
            <a:ext cx="512064" cy="512064"/>
          </a:xfrm>
          <a:prstGeom prst="ellipse">
            <a:avLst/>
          </a:prstGeom>
          <a:solidFill>
            <a:srgbClr val="4C12A1"/>
          </a:solidFill>
          <a:ln/>
        </p:spPr>
      </p:sp>
      <p:sp>
        <p:nvSpPr>
          <p:cNvPr id="37" name="Text 35"/>
          <p:cNvSpPr/>
          <p:nvPr/>
        </p:nvSpPr>
        <p:spPr>
          <a:xfrm>
            <a:off x="6446520" y="392277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6702552" y="4434840"/>
            <a:ext cx="0" cy="475488"/>
          </a:xfrm>
          <a:prstGeom prst="line">
            <a:avLst/>
          </a:prstGeom>
          <a:noFill/>
          <a:ln w="19050">
            <a:solidFill>
              <a:srgbClr val="E1E6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7114032" y="3849624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tools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114032" y="419709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auto-discovers all available SDLC Copilot tools and their schemas.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446520" y="4910328"/>
            <a:ext cx="512064" cy="512064"/>
          </a:xfrm>
          <a:prstGeom prst="ellipse">
            <a:avLst/>
          </a:prstGeom>
          <a:solidFill>
            <a:srgbClr val="4C12A1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4910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43" name="Text 41"/>
          <p:cNvSpPr/>
          <p:nvPr/>
        </p:nvSpPr>
        <p:spPr>
          <a:xfrm>
            <a:off x="7114032" y="4837176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 from chat or code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114032" y="51846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asks in natural language; agent calls the right tool; output streams back into the IDE.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Copilot  ·  Executive Briefing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47120" y="6510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85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680000">
            <a:off x="8046720" y="-1828800"/>
            <a:ext cx="5486400" cy="5486400"/>
          </a:xfrm>
          <a:prstGeom prst="rect">
            <a:avLst/>
          </a:prstGeom>
          <a:solidFill>
            <a:srgbClr val="4C12A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-1828800" y="3657600"/>
            <a:ext cx="5029200" cy="50292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20640" y="1325880"/>
            <a:ext cx="1920240" cy="19202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0" dist="50800" dir="54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2011680"/>
            <a:ext cx="59436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749040"/>
            <a:ext cx="1216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700" kern="0" dirty="0">
                <a:solidFill>
                  <a:srgbClr val="C8D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· LIVE DEMO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0" y="4069080"/>
            <a:ext cx="1216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SDLC Copilot in action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461772" y="5230368"/>
            <a:ext cx="361188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61772" y="523036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Feature ask  →  Epic &amp; Stories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74820" y="5230368"/>
            <a:ext cx="361188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74820" y="523036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Stories  →  Test Cases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87868" y="5230368"/>
            <a:ext cx="3611880" cy="62179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87868" y="5230368"/>
            <a:ext cx="3611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Test Cases  →  Gherkin via GitHub Copilot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C1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· UNDER THE HOOD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flow — Story &amp; Test Case generation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828800"/>
            <a:ext cx="1920240" cy="822960"/>
          </a:xfrm>
          <a:prstGeom prst="rect">
            <a:avLst/>
          </a:prstGeom>
          <a:solidFill>
            <a:srgbClr val="4C12A1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20624" y="190195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20624" y="224942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60320" y="1828800"/>
            <a:ext cx="1920240" cy="822960"/>
          </a:xfrm>
          <a:prstGeom prst="rect">
            <a:avLst/>
          </a:prstGeom>
          <a:solidFill>
            <a:srgbClr val="285BC5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15184" y="190195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Identifier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15184" y="224942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Story|Test|Script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1920240" cy="822960"/>
          </a:xfrm>
          <a:prstGeom prst="rect">
            <a:avLst/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9744" y="190195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Fetcher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9744" y="224942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TFS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49440" y="1828800"/>
            <a:ext cx="1920240" cy="822960"/>
          </a:xfrm>
          <a:prstGeom prst="rect">
            <a:avLst/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04304" y="190195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(CRAG)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04304" y="224942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BM25+Dense+Rerank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9144000" y="1828800"/>
            <a:ext cx="1920240" cy="822960"/>
          </a:xfrm>
          <a:prstGeom prst="rect">
            <a:avLst/>
          </a:prstGeom>
          <a:solidFill>
            <a:srgbClr val="285BC5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98864" y="190195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Agent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98864" y="224942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Story/Test/BDD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2240280"/>
            <a:ext cx="274320" cy="0"/>
          </a:xfrm>
          <a:prstGeom prst="line">
            <a:avLst/>
          </a:prstGeom>
          <a:noFill/>
          <a:ln w="27940">
            <a:solidFill>
              <a:srgbClr val="285BC5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80560" y="2240280"/>
            <a:ext cx="274320" cy="0"/>
          </a:xfrm>
          <a:prstGeom prst="line">
            <a:avLst/>
          </a:prstGeom>
          <a:noFill/>
          <a:ln w="27940">
            <a:solidFill>
              <a:srgbClr val="285BC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675120" y="2240280"/>
            <a:ext cx="274320" cy="0"/>
          </a:xfrm>
          <a:prstGeom prst="line">
            <a:avLst/>
          </a:prstGeom>
          <a:noFill/>
          <a:ln w="27940">
            <a:solidFill>
              <a:srgbClr val="285BC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869680" y="2240280"/>
            <a:ext cx="274320" cy="0"/>
          </a:xfrm>
          <a:prstGeom prst="line">
            <a:avLst/>
          </a:prstGeom>
          <a:noFill/>
          <a:ln w="27940">
            <a:solidFill>
              <a:srgbClr val="285BC5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104120" y="2651760"/>
            <a:ext cx="0" cy="1371600"/>
          </a:xfrm>
          <a:prstGeom prst="line">
            <a:avLst/>
          </a:prstGeom>
          <a:noFill/>
          <a:ln w="27940">
            <a:solidFill>
              <a:srgbClr val="285BC5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144000" y="4023360"/>
            <a:ext cx="1920240" cy="822960"/>
          </a:xfrm>
          <a:prstGeom prst="rect">
            <a:avLst/>
          </a:prstGeom>
          <a:solidFill>
            <a:srgbClr val="4C12A1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98864" y="409651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Reflexion Judge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98864" y="444398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≥ threshold?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49440" y="4023360"/>
            <a:ext cx="1920240" cy="822960"/>
          </a:xfrm>
          <a:prstGeom prst="rect">
            <a:avLst/>
          </a:prstGeom>
          <a:solidFill>
            <a:srgbClr val="F4F6FB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004304" y="409651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Refinement BOT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04304" y="444398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4023360"/>
            <a:ext cx="1920240" cy="822960"/>
          </a:xfrm>
          <a:prstGeom prst="rect">
            <a:avLst/>
          </a:prstGeom>
          <a:solidFill>
            <a:srgbClr val="285BC5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09744" y="409651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&amp; Sync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9744" y="444398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/ TFS / Export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4023360"/>
            <a:ext cx="1920240" cy="822960"/>
          </a:xfrm>
          <a:prstGeom prst="rect">
            <a:avLst/>
          </a:prstGeom>
          <a:solidFill>
            <a:srgbClr val="4C12A1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2615184" y="4096512"/>
            <a:ext cx="1810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615184" y="4443984"/>
            <a:ext cx="1810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6E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artifacts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00" y="4434840"/>
            <a:ext cx="-274320" cy="0"/>
          </a:xfrm>
          <a:prstGeom prst="line">
            <a:avLst/>
          </a:prstGeom>
          <a:noFill/>
          <a:ln w="27940">
            <a:solidFill>
              <a:srgbClr val="1F9E6E"/>
            </a:solidFill>
            <a:prstDash val="solid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8887968" y="37490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1F9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49440" y="4434840"/>
            <a:ext cx="-274320" cy="0"/>
          </a:xfrm>
          <a:prstGeom prst="line">
            <a:avLst/>
          </a:prstGeom>
          <a:noFill/>
          <a:ln w="27940">
            <a:solidFill>
              <a:srgbClr val="285BC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4754880" y="4434840"/>
            <a:ext cx="-274320" cy="0"/>
          </a:xfrm>
          <a:prstGeom prst="line">
            <a:avLst/>
          </a:prstGeom>
          <a:noFill/>
          <a:ln w="27940">
            <a:solidFill>
              <a:srgbClr val="285BC5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104120" y="3017520"/>
            <a:ext cx="0" cy="1005840"/>
          </a:xfrm>
          <a:prstGeom prst="line">
            <a:avLst/>
          </a:prstGeom>
          <a:noFill/>
          <a:ln w="25400">
            <a:solidFill>
              <a:srgbClr val="F2A900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7909560" y="3017520"/>
            <a:ext cx="2194560" cy="0"/>
          </a:xfrm>
          <a:prstGeom prst="line">
            <a:avLst/>
          </a:prstGeom>
          <a:noFill/>
          <a:ln w="25400">
            <a:solidFill>
              <a:srgbClr val="F2A900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7909560" y="2651760"/>
            <a:ext cx="0" cy="365760"/>
          </a:xfrm>
          <a:prstGeom prst="line">
            <a:avLst/>
          </a:prstGeom>
          <a:noFill/>
          <a:ln w="25400">
            <a:solidFill>
              <a:srgbClr val="F2A900"/>
            </a:solidFill>
            <a:prstDash val="dash"/>
            <a:headEnd type="triangle"/>
          </a:ln>
        </p:spPr>
      </p:sp>
      <p:sp>
        <p:nvSpPr>
          <p:cNvPr id="43" name="Text 41"/>
          <p:cNvSpPr/>
          <p:nvPr/>
        </p:nvSpPr>
        <p:spPr>
          <a:xfrm>
            <a:off x="8001000" y="274320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— retry with refreshed context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02920" y="5870448"/>
            <a:ext cx="219456" cy="219456"/>
          </a:xfrm>
          <a:prstGeom prst="rect">
            <a:avLst/>
          </a:prstGeom>
          <a:solidFill>
            <a:srgbClr val="285BC5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4672" y="5852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node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834640" y="5870448"/>
            <a:ext cx="219456" cy="219456"/>
          </a:xfrm>
          <a:prstGeom prst="rect">
            <a:avLst/>
          </a:prstGeom>
          <a:solidFill>
            <a:srgbClr val="4C12A1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36392" y="5852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/ decision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166360" y="5870448"/>
            <a:ext cx="219456" cy="219456"/>
          </a:xfrm>
          <a:prstGeom prst="rect">
            <a:avLst/>
          </a:prstGeom>
          <a:solidFill>
            <a:srgbClr val="F4F6FB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68112" y="5852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/ human node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498080" y="5870448"/>
            <a:ext cx="219456" cy="219456"/>
          </a:xfrm>
          <a:prstGeom prst="rect">
            <a:avLst/>
          </a:prstGeom>
          <a:solidFill>
            <a:srgbClr val="F2A900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799832" y="5852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(Reflexion)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829800" y="5870448"/>
            <a:ext cx="219456" cy="219456"/>
          </a:xfrm>
          <a:prstGeom prst="rect">
            <a:avLst/>
          </a:prstGeom>
          <a:solidFill>
            <a:srgbClr val="1F9E6E"/>
          </a:solidFill>
          <a:ln w="6350">
            <a:solidFill>
              <a:srgbClr val="E1E6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31552" y="5852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edge (YES)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Copilot  ·  Executive Briefing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1247120" y="6510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4C1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· ADOPTION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Usage metrics &amp; business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508760"/>
            <a:ext cx="2743200" cy="91440"/>
          </a:xfrm>
          <a:prstGeom prst="rect">
            <a:avLst/>
          </a:prstGeom>
          <a:solidFill>
            <a:srgbClr val="285BC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2763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85B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450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Cycle-time reduction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734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+ Test stages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5087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508760"/>
            <a:ext cx="2743200" cy="91440"/>
          </a:xfrm>
          <a:prstGeom prst="rect">
            <a:avLst/>
          </a:prstGeom>
          <a:solidFill>
            <a:srgbClr val="4C12A1"/>
          </a:solidFill>
          <a:ln/>
        </p:spPr>
      </p:sp>
      <p:sp>
        <p:nvSpPr>
          <p:cNvPr id="11" name="Text 9"/>
          <p:cNvSpPr/>
          <p:nvPr/>
        </p:nvSpPr>
        <p:spPr>
          <a:xfrm>
            <a:off x="3429000" y="162763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85B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12k+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3520440" y="2450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generated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20440" y="2734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· TCs · Scripts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5080" y="15087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508760"/>
            <a:ext cx="2743200" cy="91440"/>
          </a:xfrm>
          <a:prstGeom prst="rect">
            <a:avLst/>
          </a:prstGeom>
          <a:solidFill>
            <a:srgbClr val="285BC5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62763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85B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180+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6446520" y="2450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users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46520" y="2734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BAs, QA, Devs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281160" y="150876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281160" y="1508760"/>
            <a:ext cx="2743200" cy="91440"/>
          </a:xfrm>
          <a:prstGeom prst="rect">
            <a:avLst/>
          </a:prstGeom>
          <a:solidFill>
            <a:srgbClr val="4C12A1"/>
          </a:solidFill>
          <a:ln/>
        </p:spPr>
      </p:sp>
      <p:sp>
        <p:nvSpPr>
          <p:cNvPr id="21" name="Text 19"/>
          <p:cNvSpPr/>
          <p:nvPr/>
        </p:nvSpPr>
        <p:spPr>
          <a:xfrm>
            <a:off x="9281160" y="1627632"/>
            <a:ext cx="2743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85B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4.6/5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9372600" y="245059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score (LLM-as-Judge)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372600" y="273405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Composite, 12 dimensions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" y="32461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1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GENERATED — LAST 6 MONTHS</a:t>
            </a:r>
            <a:endParaRPr lang="en-US" sz="9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502920" y="3520440"/>
          <a:ext cx="53949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6309360" y="324612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C1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TIME — BEFORE vs WITH COPILOT (hours)</a:t>
            </a:r>
            <a:endParaRPr lang="en-US" sz="900" dirty="0"/>
          </a:p>
        </p:txBody>
      </p:sp>
      <p:graphicFrame>
        <p:nvGraphicFramePr>
          <p:cNvPr id="27" name="Chart 1" descr=""/>
          <p:cNvGraphicFramePr/>
          <p:nvPr/>
        </p:nvGraphicFramePr>
        <p:xfrm>
          <a:off x="6309360" y="3520440"/>
          <a:ext cx="5349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8" name="Text 24"/>
          <p:cNvSpPr/>
          <p:nvPr/>
        </p:nvSpPr>
        <p:spPr>
          <a:xfrm>
            <a:off x="502920" y="6510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SDLC Copilot  ·  Executive Briefing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47120" y="651052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SDLC Copilot — Executive Briefing</dc:title>
  <dc:subject>PptxGenJS Presentation</dc:subject>
  <dc:creator>PptxGenJS</dc:creator>
  <cp:lastModifiedBy>PptxGenJS</cp:lastModifiedBy>
  <cp:revision>1</cp:revision>
  <dcterms:created xsi:type="dcterms:W3CDTF">2026-05-25T19:14:25Z</dcterms:created>
  <dcterms:modified xsi:type="dcterms:W3CDTF">2026-05-25T19:14:25Z</dcterms:modified>
</cp:coreProperties>
</file>